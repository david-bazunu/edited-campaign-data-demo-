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David-Bazunu\Desktop\AdventureWorks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David-Bazunu\Desktop\AdventureWork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David-Bazunu\Desktop\AdventureWorks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David-Bazunu\Desktop\AdventureWorks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David-Bazunu\Desktop\AdventureWorks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C:\Users\David-Bazunu\Desktop\AdventureWorks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C:\Users\David-Bazunu\Desktop\AdventureWorks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file:///C:\Users\David-Bazunu\Desktop\AdventureWorks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file:///C:\Users\David-Bazunu\Desktop\AdventureWorks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oleObject" Target="file:///C:\Users\David-Bazunu\Desktop\AdventureWorks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oleObject" Target="file:///C:\Users\David-Bazunu\Desktop\AdventureWorks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oleObject" Target="file:///C:\Users\David-Bazunu\Desktop\AdventureWorks.xlsx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oleObject" Target="file:///C:\Users\David-Bazunu\Desktop\AdventureWorks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oleObject" Target="file:///C:\Users\David-Bazunu\Desktop\AdventureWorks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oleObject" Target="file:///C:\Users\David-Bazunu\Desktop\AdventureWorks.xlsx" TargetMode="External"/></Relationships>
</file>

<file path=ppt/charts/_rels/chart16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oleObject" Target="file:///C:\Users\David-Bazunu\Desktop\AdventureWork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[AdventureWorks.xlsx]FactInternetSales!PivotTable1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GB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GB"/>
              <a:t>Customer purchase with more amount </a:t>
            </a:r>
            <a:endParaRPr lang="en-US" altLang="en-GB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[AdventureWorks.xlsx]FactInternetSales!$Y$1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[AdventureWorks.xlsx]FactInternetSales!$X$2:$X$7</c:f>
              <c:strCache>
                <c:ptCount val="5"/>
                <c:pt idx="0">
                  <c:v>12131</c:v>
                </c:pt>
                <c:pt idx="1">
                  <c:v>12132</c:v>
                </c:pt>
                <c:pt idx="2">
                  <c:v>12300</c:v>
                </c:pt>
                <c:pt idx="3">
                  <c:v>12301</c:v>
                </c:pt>
                <c:pt idx="4">
                  <c:v>12308</c:v>
                </c:pt>
              </c:strCache>
            </c:strRef>
          </c:cat>
          <c:val>
            <c:numRef>
              <c:f>[AdventureWorks.xlsx]FactInternetSales!$Y$2:$Y$7</c:f>
              <c:numCache>
                <c:formatCode>_("$"* #,###_);_("$"* \(#,##0\);_("$"* "-"_);_(@_)</c:formatCode>
                <c:ptCount val="5"/>
                <c:pt idx="0">
                  <c:v>13265.99</c:v>
                </c:pt>
                <c:pt idx="1">
                  <c:v>13294.27</c:v>
                </c:pt>
                <c:pt idx="2">
                  <c:v>13242.7</c:v>
                </c:pt>
                <c:pt idx="3">
                  <c:v>13295.38</c:v>
                </c:pt>
                <c:pt idx="4">
                  <c:v>13269.27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1"/>
        </c:dLbls>
        <c:gapWidth val="150"/>
        <c:overlap val="0"/>
        <c:axId val="952705214"/>
        <c:axId val="741370274"/>
      </c:barChart>
      <c:catAx>
        <c:axId val="9527052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1370274"/>
        <c:crosses val="autoZero"/>
        <c:auto val="1"/>
        <c:lblAlgn val="ctr"/>
        <c:lblOffset val="100"/>
        <c:noMultiLvlLbl val="0"/>
      </c:catAx>
      <c:valAx>
        <c:axId val="74137027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#_);_(&quot;$&quot;* \(#,##0\);_(&quot;$&quot;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5270521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GB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b6a6a6f-1c9e-4612-b106-a054dd81db7f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[AdventureWorks.xlsx]FactInternetSales!PivotTable2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GB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GB"/>
              <a:t>Customer purchase more frequently </a:t>
            </a:r>
            <a:endParaRPr lang="en-US" altLang="en-GB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[AdventureWorks.xlsx]FactInternetSales!$Y$10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[AdventureWorks.xlsx]FactInternetSales!$X$11:$X$16</c:f>
              <c:strCache>
                <c:ptCount val="5"/>
                <c:pt idx="0">
                  <c:v>11185</c:v>
                </c:pt>
                <c:pt idx="1">
                  <c:v>11262</c:v>
                </c:pt>
                <c:pt idx="2">
                  <c:v>11277</c:v>
                </c:pt>
                <c:pt idx="3">
                  <c:v>11287</c:v>
                </c:pt>
                <c:pt idx="4">
                  <c:v>11300</c:v>
                </c:pt>
              </c:strCache>
            </c:strRef>
          </c:cat>
          <c:val>
            <c:numRef>
              <c:f>[AdventureWorks.xlsx]FactInternetSales!$Y$11:$Y$16</c:f>
              <c:numCache>
                <c:formatCode>General</c:formatCode>
                <c:ptCount val="5"/>
                <c:pt idx="0">
                  <c:v>68</c:v>
                </c:pt>
                <c:pt idx="1">
                  <c:v>63</c:v>
                </c:pt>
                <c:pt idx="2">
                  <c:v>65</c:v>
                </c:pt>
                <c:pt idx="3">
                  <c:v>62</c:v>
                </c:pt>
                <c:pt idx="4">
                  <c:v>67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1"/>
        </c:dLbls>
        <c:gapWidth val="150"/>
        <c:overlap val="0"/>
        <c:axId val="973428026"/>
        <c:axId val="761375691"/>
      </c:barChart>
      <c:catAx>
        <c:axId val="97342802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61375691"/>
        <c:crosses val="autoZero"/>
        <c:auto val="1"/>
        <c:lblAlgn val="ctr"/>
        <c:lblOffset val="100"/>
        <c:noMultiLvlLbl val="0"/>
      </c:catAx>
      <c:valAx>
        <c:axId val="7613756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7342802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GB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b1002aa-1f96-4d15-b673-7dbb55e1e4c7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[AdventureWorks.xlsx]FactInternetSales!PivotTable3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GB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GB"/>
              <a:t>Product manufacture cost</a:t>
            </a:r>
            <a:endParaRPr lang="en-US" altLang="en-GB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[AdventureWorks.xlsx]FactInternetSales!$Y$19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[AdventureWorks.xlsx]FactInternetSales!$X$20:$X$25</c:f>
              <c:strCache>
                <c:ptCount val="5"/>
                <c:pt idx="0">
                  <c:v>12131</c:v>
                </c:pt>
                <c:pt idx="1">
                  <c:v>12132</c:v>
                </c:pt>
                <c:pt idx="2">
                  <c:v>12300</c:v>
                </c:pt>
                <c:pt idx="3">
                  <c:v>12301</c:v>
                </c:pt>
                <c:pt idx="4">
                  <c:v>12308</c:v>
                </c:pt>
              </c:strCache>
            </c:strRef>
          </c:cat>
          <c:val>
            <c:numRef>
              <c:f>[AdventureWorks.xlsx]FactInternetSales!$Y$20:$Y$25</c:f>
              <c:numCache>
                <c:formatCode>_("$"* #,##0_);_("$"* \(#,##0\);_("$"* "-"_);_(@_)</c:formatCode>
                <c:ptCount val="5"/>
                <c:pt idx="0">
                  <c:v>8033.9674</c:v>
                </c:pt>
                <c:pt idx="1">
                  <c:v>8020.46</c:v>
                </c:pt>
                <c:pt idx="2">
                  <c:v>8005.4609</c:v>
                </c:pt>
                <c:pt idx="3">
                  <c:v>8044.9593</c:v>
                </c:pt>
                <c:pt idx="4">
                  <c:v>8014.67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1"/>
        </c:dLbls>
        <c:gapWidth val="150"/>
        <c:overlap val="0"/>
        <c:axId val="813693516"/>
        <c:axId val="277979663"/>
      </c:barChart>
      <c:catAx>
        <c:axId val="81369351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77979663"/>
        <c:crosses val="autoZero"/>
        <c:auto val="1"/>
        <c:lblAlgn val="ctr"/>
        <c:lblOffset val="100"/>
        <c:noMultiLvlLbl val="0"/>
      </c:catAx>
      <c:valAx>
        <c:axId val="277979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&quot;$&quot;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136935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GB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b266692-85bc-4820-8bd7-903f179f5263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[AdventureWorks.xlsx]DimProduct!PivotTable11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GB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b="0"/>
              <a:t>Product Development status </a:t>
            </a:r>
            <a:endParaRPr b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[AdventureWorks.xlsx]DimProduct!$O$1</c:f>
              <c:strCache>
                <c:ptCount val="1"/>
                <c:pt idx="0">
                  <c:v>Total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885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5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1" i="0" u="none" strike="noStrike" kern="1200" spc="0" baseline="0">
                    <a:solidFill>
                      <a:schemeClr val="dk1">
                        <a:tint val="885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[AdventureWorks.xlsx]DimProduct!$N$2:$N$4</c:f>
              <c:strCache>
                <c:ptCount val="2"/>
                <c:pt idx="0">
                  <c:v>Current</c:v>
                </c:pt>
                <c:pt idx="1">
                  <c:v>Done</c:v>
                </c:pt>
              </c:strCache>
            </c:strRef>
          </c:cat>
          <c:val>
            <c:numRef>
              <c:f>[AdventureWorks.xlsx]DimProduct!$O$2:$O$4</c:f>
              <c:numCache>
                <c:formatCode>General</c:formatCode>
                <c:ptCount val="2"/>
                <c:pt idx="0">
                  <c:v>406</c:v>
                </c:pt>
                <c:pt idx="1">
                  <c:v>200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d292e9a-728c-4bdd-9029-86311a9a4b2a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[AdventureWorks.xlsx]DimProduct!PivotTable12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GB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GB"/>
              <a:t>Classification of products </a:t>
            </a:r>
            <a:endParaRPr lang="en-US" altLang="en-GB"/>
          </a:p>
        </c:rich>
      </c:tx>
      <c:layout>
        <c:manualLayout>
          <c:xMode val="edge"/>
          <c:yMode val="edge"/>
          <c:x val="0.245328947368421"/>
          <c:y val="0.023611111111111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[AdventureWorks.xlsx]DimProduct!$O$7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[AdventureWorks.xlsx]DimProduct!$N$8:$N$12</c:f>
              <c:strCache>
                <c:ptCount val="4"/>
                <c:pt idx="0">
                  <c:v>L </c:v>
                </c:pt>
                <c:pt idx="1">
                  <c:v>M </c:v>
                </c:pt>
                <c:pt idx="2">
                  <c:v>H </c:v>
                </c:pt>
                <c:pt idx="3">
                  <c:v>Not assigned </c:v>
                </c:pt>
              </c:strCache>
            </c:strRef>
          </c:cat>
          <c:val>
            <c:numRef>
              <c:f>[AdventureWorks.xlsx]DimProduct!$O$8:$O$12</c:f>
              <c:numCache>
                <c:formatCode>General</c:formatCode>
                <c:ptCount val="4"/>
                <c:pt idx="0">
                  <c:v>129</c:v>
                </c:pt>
                <c:pt idx="1">
                  <c:v>80</c:v>
                </c:pt>
                <c:pt idx="2">
                  <c:v>121</c:v>
                </c:pt>
                <c:pt idx="3">
                  <c:v>276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82464638"/>
        <c:axId val="245735226"/>
      </c:barChart>
      <c:catAx>
        <c:axId val="8246463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45735226"/>
        <c:crosses val="autoZero"/>
        <c:auto val="1"/>
        <c:lblAlgn val="ctr"/>
        <c:lblOffset val="100"/>
        <c:noMultiLvlLbl val="0"/>
      </c:catAx>
      <c:valAx>
        <c:axId val="24573522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46463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GB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e2bf01d-8dfc-4e4d-8a38-0da8a48f3191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[AdventureWorks.xlsx]DimProduct!PivotTable13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GB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GB" b="0"/>
              <a:t>Days to manufacture</a:t>
            </a:r>
            <a:endParaRPr lang="en-US" altLang="en-GB" b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[AdventureWorks.xlsx]DimProduct!$O$15</c:f>
              <c:strCache>
                <c:ptCount val="1"/>
                <c:pt idx="0">
                  <c:v>Total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[AdventureWorks.xlsx]DimProduct!$N$16:$N$20</c:f>
              <c:strCach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</c:strCache>
            </c:strRef>
          </c:cat>
          <c:val>
            <c:numRef>
              <c:f>[AdventureWorks.xlsx]DimProduct!$O$16:$O$20</c:f>
              <c:numCache>
                <c:formatCode>General</c:formatCode>
                <c:ptCount val="4"/>
                <c:pt idx="0">
                  <c:v>265</c:v>
                </c:pt>
                <c:pt idx="1">
                  <c:v>204</c:v>
                </c:pt>
                <c:pt idx="2">
                  <c:v>12</c:v>
                </c:pt>
                <c:pt idx="3">
                  <c:v>125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GB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de35526-5b62-4c06-aa2f-8c968ca1bc8a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[AdventureWorks.xlsx]DimSalesTerritory!PivotTable4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GB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GB"/>
              <a:t>Delivery destination in North America </a:t>
            </a:r>
            <a:endParaRPr lang="en-US" altLang="en-GB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[AdventureWorks.xlsx]DimSalesTerritory!$H$1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[AdventureWorks.xlsx]DimSalesTerritory!$G$2:$G$9</c:f>
              <c:strCache>
                <c:ptCount val="7"/>
                <c:pt idx="0">
                  <c:v>Australia</c:v>
                </c:pt>
                <c:pt idx="1">
                  <c:v>Canada</c:v>
                </c:pt>
                <c:pt idx="2">
                  <c:v>France</c:v>
                </c:pt>
                <c:pt idx="3">
                  <c:v>Germany</c:v>
                </c:pt>
                <c:pt idx="4">
                  <c:v>NA</c:v>
                </c:pt>
                <c:pt idx="5">
                  <c:v>United Kingdom</c:v>
                </c:pt>
                <c:pt idx="6">
                  <c:v>United States</c:v>
                </c:pt>
              </c:strCache>
            </c:strRef>
          </c:cat>
          <c:val>
            <c:numRef>
              <c:f>[AdventureWorks.xlsx]DimSalesTerritory!$H$2:$H$9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1"/>
        </c:dLbls>
        <c:gapWidth val="150"/>
        <c:overlap val="0"/>
        <c:axId val="114747765"/>
        <c:axId val="832694656"/>
      </c:barChart>
      <c:catAx>
        <c:axId val="11474776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32694656"/>
        <c:crosses val="autoZero"/>
        <c:auto val="1"/>
        <c:lblAlgn val="ctr"/>
        <c:lblOffset val="100"/>
        <c:noMultiLvlLbl val="0"/>
      </c:catAx>
      <c:valAx>
        <c:axId val="832694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474776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GB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e82b810-7ced-4893-ba9a-b8abf6eccfd5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[AdventureWorks.xlsx]DimSalesTerritory!PivotTable5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GB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GB"/>
              <a:t>Delivery destination</a:t>
            </a:r>
            <a:endParaRPr lang="en-US" altLang="en-GB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[AdventureWorks.xlsx]DimSalesTerritory!$H$13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[AdventureWorks.xlsx]DimSalesTerritory!$G$14:$G$18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Pacific</c:v>
                </c:pt>
                <c:pt idx="3">
                  <c:v>NA</c:v>
                </c:pt>
              </c:strCache>
            </c:strRef>
          </c:cat>
          <c:val>
            <c:numRef>
              <c:f>[AdventureWorks.xlsx]DimSalesTerritory!$H$14:$H$18</c:f>
              <c:numCache>
                <c:formatCode>General</c:formatCode>
                <c:ptCount val="4"/>
                <c:pt idx="0">
                  <c:v>6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1"/>
        </c:dLbls>
        <c:gapWidth val="150"/>
        <c:overlap val="0"/>
        <c:axId val="99217112"/>
        <c:axId val="598030039"/>
      </c:barChart>
      <c:catAx>
        <c:axId val="9921711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8030039"/>
        <c:crosses val="autoZero"/>
        <c:auto val="1"/>
        <c:lblAlgn val="ctr"/>
        <c:lblOffset val="100"/>
        <c:noMultiLvlLbl val="0"/>
      </c:catAx>
      <c:valAx>
        <c:axId val="5980300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9217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GB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b154b58-1b37-4a99-bc84-b4d951a58b27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[AdventureWorks.xlsx]DimDate!PivotTable7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GB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GB"/>
              <a:t>Month date with the Highest sales </a:t>
            </a:r>
            <a:endParaRPr lang="en-US" altLang="en-GB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[AdventureWorks.xlsx]DimDate!$V$12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[AdventureWorks.xlsx]DimDate!$U$13:$U$25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[AdventureWorks.xlsx]DimDate!$V$13:$V$25</c:f>
              <c:numCache>
                <c:formatCode>General</c:formatCode>
                <c:ptCount val="12"/>
                <c:pt idx="0">
                  <c:v>186</c:v>
                </c:pt>
                <c:pt idx="1">
                  <c:v>169</c:v>
                </c:pt>
                <c:pt idx="2">
                  <c:v>186</c:v>
                </c:pt>
                <c:pt idx="3">
                  <c:v>180</c:v>
                </c:pt>
                <c:pt idx="4">
                  <c:v>186</c:v>
                </c:pt>
                <c:pt idx="5">
                  <c:v>180</c:v>
                </c:pt>
                <c:pt idx="6">
                  <c:v>186</c:v>
                </c:pt>
                <c:pt idx="7">
                  <c:v>186</c:v>
                </c:pt>
                <c:pt idx="8">
                  <c:v>180</c:v>
                </c:pt>
                <c:pt idx="9">
                  <c:v>186</c:v>
                </c:pt>
                <c:pt idx="10">
                  <c:v>180</c:v>
                </c:pt>
                <c:pt idx="11">
                  <c:v>186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1"/>
        </c:dLbls>
        <c:gapWidth val="150"/>
        <c:overlap val="0"/>
        <c:axId val="48624666"/>
        <c:axId val="588869605"/>
      </c:barChart>
      <c:catAx>
        <c:axId val="4862466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8869605"/>
        <c:crosses val="autoZero"/>
        <c:auto val="1"/>
        <c:lblAlgn val="ctr"/>
        <c:lblOffset val="100"/>
        <c:noMultiLvlLbl val="0"/>
      </c:catAx>
      <c:valAx>
        <c:axId val="58886960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862466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GB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46e5ed3-dc08-4d11-ac74-5d1862e037a2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[AdventureWorks.xlsx]DimDate!PivotTable8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GB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GB"/>
              <a:t>Year date with the highest sales </a:t>
            </a:r>
            <a:endParaRPr lang="en-US" altLang="en-GB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[AdventureWorks.xlsx]DimDate!$V$28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[AdventureWorks.xlsx]DimDate!$U$29:$U$35</c:f>
              <c:strCache>
                <c:ptCount val="6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</c:strCache>
            </c:strRef>
          </c:cat>
          <c:val>
            <c:numRef>
              <c:f>[AdventureWorks.xlsx]DimDate!$V$29:$V$35</c:f>
              <c:numCache>
                <c:formatCode>General</c:formatCode>
                <c:ptCount val="6"/>
                <c:pt idx="0">
                  <c:v>365</c:v>
                </c:pt>
                <c:pt idx="1">
                  <c:v>365</c:v>
                </c:pt>
                <c:pt idx="2">
                  <c:v>365</c:v>
                </c:pt>
                <c:pt idx="3">
                  <c:v>366</c:v>
                </c:pt>
                <c:pt idx="4">
                  <c:v>365</c:v>
                </c:pt>
                <c:pt idx="5">
                  <c:v>365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1"/>
        </c:dLbls>
        <c:gapWidth val="150"/>
        <c:overlap val="0"/>
        <c:axId val="345129664"/>
        <c:axId val="913798310"/>
      </c:barChart>
      <c:catAx>
        <c:axId val="34512966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13798310"/>
        <c:crosses val="autoZero"/>
        <c:auto val="1"/>
        <c:lblAlgn val="ctr"/>
        <c:lblOffset val="100"/>
        <c:noMultiLvlLbl val="0"/>
      </c:catAx>
      <c:valAx>
        <c:axId val="91379831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45129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GB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067edff-24aa-4b49-93c5-82875166b967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[AdventureWorks.xlsx]DimDate!PivotTable9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GB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GB"/>
              <a:t>Calender quarter with the highest sales  </a:t>
            </a:r>
            <a:endParaRPr lang="en-US" altLang="en-GB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[AdventureWorks.xlsx]DimDate!$V$39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[AdventureWorks.xlsx]DimDate!$U$40:$U$44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[AdventureWorks.xlsx]DimDate!$V$40:$V$44</c:f>
              <c:numCache>
                <c:formatCode>General</c:formatCode>
                <c:ptCount val="4"/>
                <c:pt idx="0">
                  <c:v>541</c:v>
                </c:pt>
                <c:pt idx="1">
                  <c:v>546</c:v>
                </c:pt>
                <c:pt idx="2">
                  <c:v>552</c:v>
                </c:pt>
                <c:pt idx="3">
                  <c:v>552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1"/>
        </c:dLbls>
        <c:gapWidth val="150"/>
        <c:overlap val="0"/>
        <c:axId val="779730255"/>
        <c:axId val="626580453"/>
      </c:barChart>
      <c:catAx>
        <c:axId val="77973025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26580453"/>
        <c:crosses val="autoZero"/>
        <c:auto val="1"/>
        <c:lblAlgn val="ctr"/>
        <c:lblOffset val="100"/>
        <c:noMultiLvlLbl val="0"/>
      </c:catAx>
      <c:valAx>
        <c:axId val="62658045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79730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GB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72d5da1-eb9e-46eb-ab05-c4dbdfdd0cb0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[AdventureWorks.xlsx]DimCustomer!PivotTable1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GB"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GB" b="0"/>
              <a:t>Number of children per customer</a:t>
            </a:r>
            <a:endParaRPr lang="en-US" altLang="en-GB" b="0"/>
          </a:p>
        </c:rich>
      </c:tx>
      <c:layout>
        <c:manualLayout>
          <c:xMode val="edge"/>
          <c:yMode val="edge"/>
          <c:x val="0.281133828996283"/>
          <c:y val="0.0069444444444444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[AdventureWorks.xlsx]DimCustomer!$AC$3</c:f>
              <c:strCache>
                <c:ptCount val="1"/>
                <c:pt idx="0">
                  <c:v>Total</c:v>
                </c:pt>
              </c:strCache>
            </c:strRef>
          </c:tx>
          <c:spPr/>
          <c:explosion val="0"/>
          <c:dPt>
            <c:idx val="0"/>
            <c:bubble3D val="0"/>
            <c:spPr>
              <a:gradFill>
                <a:gsLst>
                  <a:gs pos="0">
                    <a:schemeClr val="dk1">
                      <a:tint val="88500"/>
                      <a:hueOff val="-1670000"/>
                    </a:schemeClr>
                  </a:gs>
                  <a:gs pos="100000">
                    <a:schemeClr val="dk1">
                      <a:tint val="885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88500"/>
                        <a:lumMod val="75000"/>
                        <a:hueOff val="-1670000"/>
                      </a:schemeClr>
                    </a:gs>
                    <a:gs pos="100000">
                      <a:schemeClr val="dk1">
                        <a:tint val="885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1"/>
            <c:bubble3D val="0"/>
            <c:spPr>
              <a:gradFill>
                <a:gsLst>
                  <a:gs pos="0">
                    <a:schemeClr val="dk1">
                      <a:tint val="55000"/>
                      <a:hueOff val="-1670000"/>
                    </a:schemeClr>
                  </a:gs>
                  <a:gs pos="100000">
                    <a:schemeClr val="dk1">
                      <a:tint val="55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55000"/>
                        <a:lumMod val="75000"/>
                        <a:hueOff val="-1670000"/>
                      </a:schemeClr>
                    </a:gs>
                    <a:gs pos="100000">
                      <a:schemeClr val="dk1">
                        <a:tint val="55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2"/>
            <c:bubble3D val="0"/>
            <c:spPr>
              <a:gradFill>
                <a:gsLst>
                  <a:gs pos="0">
                    <a:schemeClr val="dk1">
                      <a:tint val="75000"/>
                      <a:hueOff val="-1670000"/>
                    </a:schemeClr>
                  </a:gs>
                  <a:gs pos="100000">
                    <a:schemeClr val="dk1">
                      <a:tint val="75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75000"/>
                        <a:lumMod val="75000"/>
                        <a:hueOff val="-1670000"/>
                      </a:schemeClr>
                    </a:gs>
                    <a:gs pos="100000">
                      <a:schemeClr val="dk1">
                        <a:tint val="75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3"/>
            <c:bubble3D val="0"/>
            <c:spPr>
              <a:gradFill>
                <a:gsLst>
                  <a:gs pos="0">
                    <a:schemeClr val="dk1">
                      <a:tint val="98500"/>
                      <a:hueOff val="-1670000"/>
                    </a:schemeClr>
                  </a:gs>
                  <a:gs pos="100000">
                    <a:schemeClr val="dk1">
                      <a:tint val="985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98500"/>
                        <a:lumMod val="75000"/>
                        <a:hueOff val="-1670000"/>
                      </a:schemeClr>
                    </a:gs>
                    <a:gs pos="100000">
                      <a:schemeClr val="dk1">
                        <a:tint val="985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4"/>
            <c:bubble3D val="0"/>
            <c:spPr>
              <a:gradFill>
                <a:gsLst>
                  <a:gs pos="0">
                    <a:schemeClr val="dk1">
                      <a:tint val="30000"/>
                      <a:hueOff val="-1670000"/>
                    </a:schemeClr>
                  </a:gs>
                  <a:gs pos="100000">
                    <a:schemeClr val="dk1">
                      <a:tint val="3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30000"/>
                        <a:lumMod val="75000"/>
                        <a:hueOff val="-1670000"/>
                      </a:schemeClr>
                    </a:gs>
                    <a:gs pos="100000">
                      <a:schemeClr val="dk1">
                        <a:tint val="3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5"/>
            <c:bubble3D val="0"/>
            <c:spPr>
              <a:gradFill>
                <a:gsLst>
                  <a:gs pos="0">
                    <a:schemeClr val="dk1">
                      <a:tint val="60000"/>
                      <a:hueOff val="-1670000"/>
                    </a:schemeClr>
                  </a:gs>
                  <a:gs pos="100000">
                    <a:schemeClr val="dk1">
                      <a:tint val="6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60000"/>
                        <a:lumMod val="75000"/>
                        <a:hueOff val="-1670000"/>
                      </a:schemeClr>
                    </a:gs>
                    <a:gs pos="100000">
                      <a:schemeClr val="dk1">
                        <a:tint val="6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885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5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985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3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1" i="0" u="none" strike="noStrike" kern="1200" spc="0" baseline="0">
                    <a:solidFill>
                      <a:schemeClr val="dk1">
                        <a:tint val="885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[AdventureWorks.xlsx]DimCustomer!$AB$4:$AB$10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[AdventureWorks.xlsx]DimCustomer!$AC$4:$AC$10</c:f>
              <c:numCache>
                <c:formatCode>General</c:formatCode>
                <c:ptCount val="6"/>
                <c:pt idx="0">
                  <c:v>5165</c:v>
                </c:pt>
                <c:pt idx="1">
                  <c:v>3619</c:v>
                </c:pt>
                <c:pt idx="2">
                  <c:v>3779</c:v>
                </c:pt>
                <c:pt idx="3">
                  <c:v>2194</c:v>
                </c:pt>
                <c:pt idx="4">
                  <c:v>2303</c:v>
                </c:pt>
                <c:pt idx="5">
                  <c:v>1424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5a7b7ed-1434-4113-a62b-0012df1bd292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[AdventureWorks.xlsx]DimCustomer!PivotTable2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GB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GB" b="0"/>
              <a:t>Number of male and female customers </a:t>
            </a:r>
            <a:endParaRPr lang="en-US" altLang="en-GB" b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[AdventureWorks.xlsx]DimCustomer!$AC$14</c:f>
              <c:strCache>
                <c:ptCount val="1"/>
                <c:pt idx="0">
                  <c:v>Total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885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5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1" i="0" u="none" strike="noStrike" kern="1200" spc="0" baseline="0">
                    <a:solidFill>
                      <a:schemeClr val="dk1">
                        <a:tint val="885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[AdventureWorks.xlsx]DimCustomer!$AB$15:$AB$17</c:f>
              <c:strCache>
                <c:ptCount val="2"/>
                <c:pt idx="0">
                  <c:v>M</c:v>
                </c:pt>
                <c:pt idx="1">
                  <c:v>F</c:v>
                </c:pt>
              </c:strCache>
            </c:strRef>
          </c:cat>
          <c:val>
            <c:numRef>
              <c:f>[AdventureWorks.xlsx]DimCustomer!$AC$15:$AC$17</c:f>
              <c:numCache>
                <c:formatCode>General</c:formatCode>
                <c:ptCount val="2"/>
                <c:pt idx="0">
                  <c:v>9351</c:v>
                </c:pt>
                <c:pt idx="1">
                  <c:v>9133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cf01f68-a1ff-47a2-ad8a-9667c8b050c9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[AdventureWorks.xlsx]DimCustomer!PivotTable3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GB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GB"/>
              <a:t>Customer’s Yearly income </a:t>
            </a:r>
            <a:endParaRPr lang="en-US" altLang="en-GB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[AdventureWorks.xlsx]DimCustomer!$AC$21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[AdventureWorks.xlsx]DimCustomer!$AB$22:$AB$38</c:f>
              <c:strCache>
                <c:ptCount val="16"/>
                <c:pt idx="0">
                  <c:v>$90,000.00</c:v>
                </c:pt>
                <c:pt idx="1">
                  <c:v>$60,000.00</c:v>
                </c:pt>
                <c:pt idx="2">
                  <c:v>$70,000.00</c:v>
                </c:pt>
                <c:pt idx="3">
                  <c:v>$80,000.00</c:v>
                </c:pt>
                <c:pt idx="4">
                  <c:v>$100,000.00</c:v>
                </c:pt>
                <c:pt idx="5">
                  <c:v>$30,000.00</c:v>
                </c:pt>
                <c:pt idx="6">
                  <c:v>$20,000.00</c:v>
                </c:pt>
                <c:pt idx="7">
                  <c:v>$40,000.00</c:v>
                </c:pt>
                <c:pt idx="8">
                  <c:v>$10,000.00</c:v>
                </c:pt>
                <c:pt idx="9">
                  <c:v>$160,000.00</c:v>
                </c:pt>
                <c:pt idx="10">
                  <c:v>$170,000.00</c:v>
                </c:pt>
                <c:pt idx="11">
                  <c:v>$120,000.00</c:v>
                </c:pt>
                <c:pt idx="12">
                  <c:v>$130,000.00</c:v>
                </c:pt>
                <c:pt idx="13">
                  <c:v>$110,000.00</c:v>
                </c:pt>
                <c:pt idx="14">
                  <c:v>$150,000.00</c:v>
                </c:pt>
                <c:pt idx="15">
                  <c:v>$50,000.00</c:v>
                </c:pt>
              </c:strCache>
            </c:strRef>
          </c:cat>
          <c:val>
            <c:numRef>
              <c:f>[AdventureWorks.xlsx]DimCustomer!$AC$22:$AC$38</c:f>
              <c:numCache>
                <c:formatCode>General</c:formatCode>
                <c:ptCount val="16"/>
                <c:pt idx="0">
                  <c:v>842</c:v>
                </c:pt>
                <c:pt idx="1">
                  <c:v>3127</c:v>
                </c:pt>
                <c:pt idx="2">
                  <c:v>2349</c:v>
                </c:pt>
                <c:pt idx="3">
                  <c:v>1342</c:v>
                </c:pt>
                <c:pt idx="4">
                  <c:v>571</c:v>
                </c:pt>
                <c:pt idx="5">
                  <c:v>2287</c:v>
                </c:pt>
                <c:pt idx="6">
                  <c:v>1767</c:v>
                </c:pt>
                <c:pt idx="7">
                  <c:v>2747</c:v>
                </c:pt>
                <c:pt idx="8">
                  <c:v>1155</c:v>
                </c:pt>
                <c:pt idx="9">
                  <c:v>94</c:v>
                </c:pt>
                <c:pt idx="10">
                  <c:v>112</c:v>
                </c:pt>
                <c:pt idx="11">
                  <c:v>332</c:v>
                </c:pt>
                <c:pt idx="12">
                  <c:v>512</c:v>
                </c:pt>
                <c:pt idx="13">
                  <c:v>474</c:v>
                </c:pt>
                <c:pt idx="14">
                  <c:v>103</c:v>
                </c:pt>
                <c:pt idx="15">
                  <c:v>670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1"/>
        </c:dLbls>
        <c:gapWidth val="150"/>
        <c:overlap val="0"/>
        <c:axId val="316562911"/>
        <c:axId val="283735064"/>
      </c:barChart>
      <c:catAx>
        <c:axId val="31656291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83735064"/>
        <c:crosses val="autoZero"/>
        <c:auto val="1"/>
        <c:lblAlgn val="ctr"/>
        <c:lblOffset val="100"/>
        <c:noMultiLvlLbl val="0"/>
      </c:catAx>
      <c:valAx>
        <c:axId val="283735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165629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GB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00fb1af-cae1-401a-ab91-46eb5a0160bc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[AdventureWorks.xlsx]DimGeography!PivotTable4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GB"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b="0"/>
              <a:t>T</a:t>
            </a:r>
            <a:r>
              <a:rPr lang="en-US" altLang="en-GB" b="0"/>
              <a:t>he geography with the highest sales </a:t>
            </a:r>
            <a:endParaRPr lang="en-US" altLang="en-GB" b="0"/>
          </a:p>
        </c:rich>
      </c:tx>
      <c:layout>
        <c:manualLayout>
          <c:xMode val="edge"/>
          <c:yMode val="edge"/>
          <c:x val="0.207418124424569"/>
          <c:y val="0.0069444444444444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[AdventureWorks.xlsx]DimGeography!$N$5</c:f>
              <c:strCache>
                <c:ptCount val="1"/>
                <c:pt idx="0">
                  <c:v>Total</c:v>
                </c:pt>
              </c:strCache>
            </c:strRef>
          </c:tx>
          <c:spPr/>
          <c:explosion val="0"/>
          <c:dPt>
            <c:idx val="0"/>
            <c:bubble3D val="0"/>
            <c:spPr>
              <a:gradFill>
                <a:gsLst>
                  <a:gs pos="0">
                    <a:schemeClr val="dk1">
                      <a:tint val="88500"/>
                      <a:hueOff val="-1670000"/>
                    </a:schemeClr>
                  </a:gs>
                  <a:gs pos="100000">
                    <a:schemeClr val="dk1">
                      <a:tint val="885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88500"/>
                        <a:lumMod val="75000"/>
                        <a:hueOff val="-1670000"/>
                      </a:schemeClr>
                    </a:gs>
                    <a:gs pos="100000">
                      <a:schemeClr val="dk1">
                        <a:tint val="885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1"/>
            <c:bubble3D val="0"/>
            <c:spPr>
              <a:gradFill>
                <a:gsLst>
                  <a:gs pos="0">
                    <a:schemeClr val="dk1">
                      <a:tint val="55000"/>
                      <a:hueOff val="-1670000"/>
                    </a:schemeClr>
                  </a:gs>
                  <a:gs pos="100000">
                    <a:schemeClr val="dk1">
                      <a:tint val="55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55000"/>
                        <a:lumMod val="75000"/>
                        <a:hueOff val="-1670000"/>
                      </a:schemeClr>
                    </a:gs>
                    <a:gs pos="100000">
                      <a:schemeClr val="dk1">
                        <a:tint val="55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2"/>
            <c:bubble3D val="0"/>
            <c:spPr>
              <a:gradFill>
                <a:gsLst>
                  <a:gs pos="0">
                    <a:schemeClr val="dk1">
                      <a:tint val="75000"/>
                      <a:hueOff val="-1670000"/>
                    </a:schemeClr>
                  </a:gs>
                  <a:gs pos="100000">
                    <a:schemeClr val="dk1">
                      <a:tint val="75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75000"/>
                        <a:lumMod val="75000"/>
                        <a:hueOff val="-1670000"/>
                      </a:schemeClr>
                    </a:gs>
                    <a:gs pos="100000">
                      <a:schemeClr val="dk1">
                        <a:tint val="75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3"/>
            <c:bubble3D val="0"/>
            <c:spPr>
              <a:gradFill>
                <a:gsLst>
                  <a:gs pos="0">
                    <a:schemeClr val="dk1">
                      <a:tint val="98500"/>
                      <a:hueOff val="-1670000"/>
                    </a:schemeClr>
                  </a:gs>
                  <a:gs pos="100000">
                    <a:schemeClr val="dk1">
                      <a:tint val="985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98500"/>
                        <a:lumMod val="75000"/>
                        <a:hueOff val="-1670000"/>
                      </a:schemeClr>
                    </a:gs>
                    <a:gs pos="100000">
                      <a:schemeClr val="dk1">
                        <a:tint val="985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4"/>
            <c:bubble3D val="0"/>
            <c:spPr>
              <a:gradFill>
                <a:gsLst>
                  <a:gs pos="0">
                    <a:schemeClr val="dk1">
                      <a:tint val="30000"/>
                      <a:hueOff val="-1670000"/>
                    </a:schemeClr>
                  </a:gs>
                  <a:gs pos="100000">
                    <a:schemeClr val="dk1">
                      <a:tint val="3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30000"/>
                        <a:lumMod val="75000"/>
                        <a:hueOff val="-1670000"/>
                      </a:schemeClr>
                    </a:gs>
                    <a:gs pos="100000">
                      <a:schemeClr val="dk1">
                        <a:tint val="3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5"/>
            <c:bubble3D val="0"/>
            <c:spPr>
              <a:gradFill>
                <a:gsLst>
                  <a:gs pos="0">
                    <a:schemeClr val="dk1">
                      <a:tint val="60000"/>
                      <a:hueOff val="-1670000"/>
                    </a:schemeClr>
                  </a:gs>
                  <a:gs pos="100000">
                    <a:schemeClr val="dk1">
                      <a:tint val="6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60000"/>
                        <a:lumMod val="75000"/>
                        <a:hueOff val="-1670000"/>
                      </a:schemeClr>
                    </a:gs>
                    <a:gs pos="100000">
                      <a:schemeClr val="dk1">
                        <a:tint val="6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885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5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985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3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1" i="0" u="none" strike="noStrike" kern="1200" spc="0" baseline="0">
                    <a:solidFill>
                      <a:schemeClr val="dk1">
                        <a:tint val="885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[AdventureWorks.xlsx]DimGeography!$M$6:$M$12</c:f>
              <c:strCache>
                <c:ptCount val="6"/>
                <c:pt idx="0">
                  <c:v>Australia</c:v>
                </c:pt>
                <c:pt idx="1">
                  <c:v>Canada</c:v>
                </c:pt>
                <c:pt idx="2">
                  <c:v>France</c:v>
                </c:pt>
                <c:pt idx="3">
                  <c:v>Germany</c:v>
                </c:pt>
                <c:pt idx="4">
                  <c:v>United Kingdom</c:v>
                </c:pt>
                <c:pt idx="5">
                  <c:v>United States</c:v>
                </c:pt>
              </c:strCache>
            </c:strRef>
          </c:cat>
          <c:val>
            <c:numRef>
              <c:f>[AdventureWorks.xlsx]DimGeography!$N$6:$N$12</c:f>
              <c:numCache>
                <c:formatCode>General</c:formatCode>
                <c:ptCount val="6"/>
                <c:pt idx="0">
                  <c:v>40</c:v>
                </c:pt>
                <c:pt idx="1">
                  <c:v>73</c:v>
                </c:pt>
                <c:pt idx="2">
                  <c:v>48</c:v>
                </c:pt>
                <c:pt idx="3">
                  <c:v>65</c:v>
                </c:pt>
                <c:pt idx="4">
                  <c:v>53</c:v>
                </c:pt>
                <c:pt idx="5">
                  <c:v>376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f5d9918-d2a8-43be-9b19-cc6e11e5c0c0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[AdventureWorks.xlsx]DimGeography!PivotTable5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GB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GB" b="0"/>
              <a:t>Total Number of sales territory key   </a:t>
            </a:r>
            <a:endParaRPr lang="en-US" altLang="en-GB" b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[AdventureWorks.xlsx]DimGeography!$N$15</c:f>
              <c:strCache>
                <c:ptCount val="1"/>
                <c:pt idx="0">
                  <c:v>Total</c:v>
                </c:pt>
              </c:strCache>
            </c:strRef>
          </c:tx>
          <c:spPr/>
          <c:explosion val="0"/>
          <c:dPt>
            <c:idx val="0"/>
            <c:bubble3D val="0"/>
            <c:spPr>
              <a:gradFill>
                <a:gsLst>
                  <a:gs pos="0">
                    <a:schemeClr val="dk1">
                      <a:tint val="88500"/>
                      <a:lumMod val="40000"/>
                      <a:lumOff val="60000"/>
                    </a:schemeClr>
                  </a:gs>
                  <a:gs pos="90000">
                    <a:schemeClr val="dk1">
                      <a:tint val="885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88500"/>
                      </a:schemeClr>
                    </a:gs>
                    <a:gs pos="100000">
                      <a:schemeClr val="dk1">
                        <a:tint val="885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1"/>
            <c:bubble3D val="0"/>
            <c:spPr>
              <a:gradFill>
                <a:gsLst>
                  <a:gs pos="0">
                    <a:schemeClr val="dk1">
                      <a:tint val="55000"/>
                      <a:lumMod val="40000"/>
                      <a:lumOff val="60000"/>
                    </a:schemeClr>
                  </a:gs>
                  <a:gs pos="90000">
                    <a:schemeClr val="dk1">
                      <a:tint val="55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55000"/>
                      </a:schemeClr>
                    </a:gs>
                    <a:gs pos="100000">
                      <a:schemeClr val="dk1">
                        <a:tint val="55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2"/>
            <c:bubble3D val="0"/>
            <c:spPr>
              <a:gradFill>
                <a:gsLst>
                  <a:gs pos="0">
                    <a:schemeClr val="dk1">
                      <a:tint val="75000"/>
                      <a:lumMod val="40000"/>
                      <a:lumOff val="60000"/>
                    </a:schemeClr>
                  </a:gs>
                  <a:gs pos="90000">
                    <a:schemeClr val="dk1">
                      <a:tint val="75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75000"/>
                      </a:schemeClr>
                    </a:gs>
                    <a:gs pos="100000">
                      <a:schemeClr val="dk1">
                        <a:tint val="75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3"/>
            <c:bubble3D val="0"/>
            <c:spPr>
              <a:gradFill>
                <a:gsLst>
                  <a:gs pos="0">
                    <a:schemeClr val="dk1">
                      <a:tint val="98500"/>
                      <a:lumMod val="40000"/>
                      <a:lumOff val="60000"/>
                    </a:schemeClr>
                  </a:gs>
                  <a:gs pos="90000">
                    <a:schemeClr val="dk1">
                      <a:tint val="985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98500"/>
                      </a:schemeClr>
                    </a:gs>
                    <a:gs pos="100000">
                      <a:schemeClr val="dk1">
                        <a:tint val="985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4"/>
            <c:bubble3D val="0"/>
            <c:spPr>
              <a:gradFill>
                <a:gsLst>
                  <a:gs pos="0">
                    <a:schemeClr val="dk1">
                      <a:tint val="30000"/>
                      <a:lumMod val="40000"/>
                      <a:lumOff val="60000"/>
                    </a:schemeClr>
                  </a:gs>
                  <a:gs pos="90000">
                    <a:schemeClr val="dk1">
                      <a:tint val="3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30000"/>
                      </a:schemeClr>
                    </a:gs>
                    <a:gs pos="100000">
                      <a:schemeClr val="dk1">
                        <a:tint val="3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5"/>
            <c:bubble3D val="0"/>
            <c:spPr>
              <a:gradFill>
                <a:gsLst>
                  <a:gs pos="0">
                    <a:schemeClr val="dk1">
                      <a:tint val="60000"/>
                      <a:lumMod val="40000"/>
                      <a:lumOff val="60000"/>
                    </a:schemeClr>
                  </a:gs>
                  <a:gs pos="90000">
                    <a:schemeClr val="dk1">
                      <a:tint val="6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60000"/>
                      </a:schemeClr>
                    </a:gs>
                    <a:gs pos="100000">
                      <a:schemeClr val="dk1">
                        <a:tint val="6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6"/>
            <c:bubble3D val="0"/>
            <c:spPr>
              <a:gradFill>
                <a:gsLst>
                  <a:gs pos="0">
                    <a:schemeClr val="dk1">
                      <a:tint val="80000"/>
                      <a:lumMod val="40000"/>
                      <a:lumOff val="60000"/>
                    </a:schemeClr>
                  </a:gs>
                  <a:gs pos="90000">
                    <a:schemeClr val="dk1">
                      <a:tint val="8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80000"/>
                      </a:schemeClr>
                    </a:gs>
                    <a:gs pos="100000">
                      <a:schemeClr val="dk1">
                        <a:tint val="8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7"/>
            <c:bubble3D val="0"/>
            <c:spPr>
              <a:gradFill>
                <a:gsLst>
                  <a:gs pos="0">
                    <a:schemeClr val="dk1">
                      <a:tint val="88500"/>
                      <a:lumMod val="40000"/>
                      <a:lumOff val="60000"/>
                    </a:schemeClr>
                  </a:gs>
                  <a:gs pos="90000">
                    <a:schemeClr val="dk1">
                      <a:tint val="885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88500"/>
                      </a:schemeClr>
                    </a:gs>
                    <a:gs pos="100000">
                      <a:schemeClr val="dk1">
                        <a:tint val="885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8"/>
            <c:bubble3D val="0"/>
            <c:spPr>
              <a:gradFill>
                <a:gsLst>
                  <a:gs pos="0">
                    <a:schemeClr val="dk1">
                      <a:tint val="55000"/>
                      <a:lumMod val="40000"/>
                      <a:lumOff val="60000"/>
                    </a:schemeClr>
                  </a:gs>
                  <a:gs pos="90000">
                    <a:schemeClr val="dk1">
                      <a:tint val="55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55000"/>
                      </a:schemeClr>
                    </a:gs>
                    <a:gs pos="100000">
                      <a:schemeClr val="dk1">
                        <a:tint val="55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9"/>
            <c:bubble3D val="0"/>
            <c:spPr>
              <a:gradFill>
                <a:gsLst>
                  <a:gs pos="0">
                    <a:schemeClr val="dk1">
                      <a:tint val="75000"/>
                      <a:lumMod val="40000"/>
                      <a:lumOff val="60000"/>
                    </a:schemeClr>
                  </a:gs>
                  <a:gs pos="90000">
                    <a:schemeClr val="dk1">
                      <a:tint val="75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dk1">
                        <a:tint val="75000"/>
                      </a:schemeClr>
                    </a:gs>
                    <a:gs pos="100000">
                      <a:schemeClr val="dk1">
                        <a:tint val="75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885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5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985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3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8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885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5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000" b="1" i="0" u="none" strike="noStrike" kern="1200" spc="0" baseline="0">
                      <a:solidFill>
                        <a:schemeClr val="dk1">
                          <a:tint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1" i="0" u="none" strike="noStrike" kern="1200" spc="0" baseline="0">
                    <a:solidFill>
                      <a:schemeClr val="dk1">
                        <a:tint val="885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[AdventureWorks.xlsx]DimGeography!$M$16:$M$26</c:f>
              <c:strCache>
                <c:ptCount val="10"/>
                <c:pt idx="0">
                  <c:v>9</c:v>
                </c:pt>
                <c:pt idx="1">
                  <c:v>6</c:v>
                </c:pt>
                <c:pt idx="2">
                  <c:v>8</c:v>
                </c:pt>
                <c:pt idx="3">
                  <c:v>7</c:v>
                </c:pt>
                <c:pt idx="4">
                  <c:v>10</c:v>
                </c:pt>
                <c:pt idx="5">
                  <c:v>5</c:v>
                </c:pt>
                <c:pt idx="6">
                  <c:v>4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</c:strCache>
            </c:strRef>
          </c:cat>
          <c:val>
            <c:numRef>
              <c:f>[AdventureWorks.xlsx]DimGeography!$N$16:$N$26</c:f>
              <c:numCache>
                <c:formatCode>General</c:formatCode>
                <c:ptCount val="10"/>
                <c:pt idx="0">
                  <c:v>40</c:v>
                </c:pt>
                <c:pt idx="1">
                  <c:v>73</c:v>
                </c:pt>
                <c:pt idx="2">
                  <c:v>65</c:v>
                </c:pt>
                <c:pt idx="3">
                  <c:v>48</c:v>
                </c:pt>
                <c:pt idx="4">
                  <c:v>53</c:v>
                </c:pt>
                <c:pt idx="5">
                  <c:v>64</c:v>
                </c:pt>
                <c:pt idx="6">
                  <c:v>127</c:v>
                </c:pt>
                <c:pt idx="7">
                  <c:v>51</c:v>
                </c:pt>
                <c:pt idx="8">
                  <c:v>51</c:v>
                </c:pt>
                <c:pt idx="9">
                  <c:v>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895d5b9-c850-438d-ac54-7976427898f2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08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1009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>
              <a:hueOff val="-1670000"/>
            </a:schemeClr>
          </a:gs>
          <a:gs pos="100000">
            <a:schemeClr val="phClr"/>
          </a:gs>
        </a:gsLst>
        <a:lin ang="5400000" scaled="0"/>
      </a:gradFill>
      <a:ln>
        <a:gradFill>
          <a:gsLst>
            <a:gs pos="0">
              <a:schemeClr val="phClr">
                <a:lumMod val="75000"/>
                <a:hueOff val="-1670000"/>
              </a:schemeClr>
            </a:gs>
            <a:gs pos="100000">
              <a:schemeClr val="phClr">
                <a:lumMod val="75000"/>
              </a:schemeClr>
            </a:gs>
          </a:gsLst>
          <a:lin ang="5400000" scaled="1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1008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1009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>
              <a:hueOff val="-1670000"/>
            </a:schemeClr>
          </a:gs>
          <a:gs pos="100000">
            <a:schemeClr val="phClr"/>
          </a:gs>
        </a:gsLst>
        <a:lin ang="5400000" scaled="0"/>
      </a:gradFill>
      <a:ln>
        <a:gradFill>
          <a:gsLst>
            <a:gs pos="0">
              <a:schemeClr val="phClr">
                <a:lumMod val="75000"/>
                <a:hueOff val="-1670000"/>
              </a:schemeClr>
            </a:gs>
            <a:gs pos="100000">
              <a:schemeClr val="phClr">
                <a:lumMod val="75000"/>
              </a:schemeClr>
            </a:gs>
          </a:gsLst>
          <a:lin ang="5400000" scaled="1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1008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54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5400000" scaled="1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chart" Target="../charts/chart8.xml"/><Relationship Id="rId1" Type="http://schemas.openxmlformats.org/officeDocument/2006/relationships/chart" Target="../charts/chart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chart" Target="../charts/chart9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chart" Target="../charts/chart1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chart" Target="../charts/chart16.xml"/><Relationship Id="rId1" Type="http://schemas.openxmlformats.org/officeDocument/2006/relationships/chart" Target="../charts/char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21310" y="1195705"/>
            <a:ext cx="8128000" cy="351091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lang="en-US" sz="4800" b="1" spc="400">
                <a:latin typeface="Arial" panose="020B0604020202020204" pitchFamily="34" charset="0"/>
                <a:ea typeface="Microsoft YaHei" panose="020B0503020204020204" charset="-122"/>
              </a:rPr>
              <a:t>ADVENTURE WORKS DATA ANALYSIS </a:t>
            </a:r>
            <a:endParaRPr lang="en-US" sz="4800" b="1" spc="4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33070" y="4138295"/>
            <a:ext cx="4761230" cy="5683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3200" b="1">
                <a:latin typeface="Arial" panose="020B0604020202020204" pitchFamily="34" charset="0"/>
                <a:ea typeface="Microsoft YaHei" panose="020B0503020204020204" charset="-122"/>
              </a:rPr>
              <a:t>Group 2 presentation</a:t>
            </a:r>
            <a:endParaRPr lang="en-US" sz="3200" b="1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33070" y="470653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800">
                <a:latin typeface="Arial" panose="020B0604020202020204" pitchFamily="34" charset="0"/>
                <a:ea typeface="Microsoft YaHei" panose="020B0503020204020204" charset="-122"/>
              </a:rPr>
              <a:t>Project Lead : Nike</a:t>
            </a:r>
            <a:endParaRPr lang="en-US" sz="18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33070" y="507483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800">
                <a:latin typeface="Arial" panose="020B0604020202020204" pitchFamily="34" charset="0"/>
                <a:ea typeface="Microsoft YaHei" panose="020B0503020204020204" charset="-122"/>
              </a:rPr>
              <a:t>Analyst : David</a:t>
            </a:r>
            <a:endParaRPr lang="en-US" sz="18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433070" y="544313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800">
                <a:latin typeface="Arial" panose="020B0604020202020204" pitchFamily="34" charset="0"/>
                <a:ea typeface="Microsoft YaHei" panose="020B0503020204020204" charset="-122"/>
              </a:rPr>
              <a:t>Designer : Micheal</a:t>
            </a:r>
            <a:endParaRPr lang="en-US" sz="18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433070" y="581143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800">
                <a:latin typeface="Arial" panose="020B0604020202020204" pitchFamily="34" charset="0"/>
                <a:ea typeface="Microsoft YaHei" panose="020B0503020204020204" charset="-122"/>
              </a:rPr>
              <a:t>Speaker : Abubakar</a:t>
            </a:r>
            <a:endParaRPr lang="en-US" sz="18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55270" y="248285"/>
            <a:ext cx="4634230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/>
              <a:t>Key findings for Fact Analysis </a:t>
            </a:r>
            <a:endParaRPr lang="en-US" altLang="en-GB" sz="20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Customer with Key 12132 ( kaitlyn ) has been purchasing with more amount than the others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 Customer with key 11185 ( Ashley )has been purchasing more frequently than the others 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 The product for customer with key 12301 ( Nichole) has cost us more to manufacture than the other products we have manufactured </a:t>
            </a:r>
            <a:endParaRPr lang="en-US" altLang="en-GB"/>
          </a:p>
        </p:txBody>
      </p:sp>
      <p:graphicFrame>
        <p:nvGraphicFramePr>
          <p:cNvPr id="5" name="Chart 4"/>
          <p:cNvGraphicFramePr/>
          <p:nvPr/>
        </p:nvGraphicFramePr>
        <p:xfrm>
          <a:off x="6983095" y="100330"/>
          <a:ext cx="4826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6982460" y="3429000"/>
          <a:ext cx="4827270" cy="2863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580390" y="3429000"/>
          <a:ext cx="4826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</p:transition>
    </mc:Choice>
    <mc:Fallback>
      <p:transition spd="med">
        <p:newsflash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ext Box 11"/>
          <p:cNvSpPr txBox="1"/>
          <p:nvPr/>
        </p:nvSpPr>
        <p:spPr>
          <a:xfrm>
            <a:off x="299085" y="144145"/>
            <a:ext cx="4064000" cy="3446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/>
              <a:t>Key findings for product Analysis</a:t>
            </a:r>
            <a:endParaRPr lang="en-US" altLang="en-GB" sz="20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Majority of our products are currently in development while only 33% are ready for sales 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Most of our products have not been assigned a class yet and needs to be assigned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44% of our products in the table shows that it took few hours, not up to a day to manufacture but the rest took a day or few days  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</p:txBody>
      </p:sp>
      <p:graphicFrame>
        <p:nvGraphicFramePr>
          <p:cNvPr id="2" name="Chart 1"/>
          <p:cNvGraphicFramePr/>
          <p:nvPr/>
        </p:nvGraphicFramePr>
        <p:xfrm>
          <a:off x="6974205" y="357505"/>
          <a:ext cx="4826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" name="Chart 2"/>
          <p:cNvGraphicFramePr/>
          <p:nvPr/>
        </p:nvGraphicFramePr>
        <p:xfrm>
          <a:off x="6974840" y="3429000"/>
          <a:ext cx="4826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/>
          <p:cNvGraphicFramePr/>
          <p:nvPr/>
        </p:nvGraphicFramePr>
        <p:xfrm>
          <a:off x="299085" y="3162935"/>
          <a:ext cx="4826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Chart 3"/>
          <p:cNvGraphicFramePr/>
          <p:nvPr/>
        </p:nvGraphicFramePr>
        <p:xfrm>
          <a:off x="7052310" y="427990"/>
          <a:ext cx="4826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265430" y="241300"/>
            <a:ext cx="4064000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/>
              <a:t>Key findings for Territory analysis </a:t>
            </a:r>
            <a:endParaRPr lang="en-US" altLang="en-GB" sz="20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most of our destination in product delivery are in North america particularly in the united states according to the Data available </a:t>
            </a:r>
            <a:endParaRPr lang="en-US" altLang="en-GB"/>
          </a:p>
        </p:txBody>
      </p:sp>
      <p:graphicFrame>
        <p:nvGraphicFramePr>
          <p:cNvPr id="8" name="Chart 7"/>
          <p:cNvGraphicFramePr/>
          <p:nvPr/>
        </p:nvGraphicFramePr>
        <p:xfrm>
          <a:off x="7052310" y="3171190"/>
          <a:ext cx="4826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4" name="SalesTerritoryGro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95" y="3460750"/>
            <a:ext cx="4396105" cy="24847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 Box 8"/>
          <p:cNvSpPr txBox="1"/>
          <p:nvPr/>
        </p:nvSpPr>
        <p:spPr>
          <a:xfrm>
            <a:off x="299085" y="297180"/>
            <a:ext cx="4064000" cy="3446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/>
              <a:t>Key  findings for Date Analysis </a:t>
            </a:r>
            <a:endParaRPr lang="en-US" altLang="en-GB" sz="20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sym typeface="+mn-ea"/>
              </a:rPr>
              <a:t>Between the interval of 5yrs, the year 2008 has yielded more sales for us than the rest , because of the holiday season. 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The month of January, March, May , July, August, October and December of  the year 2008 has been recorded to have the highest month of sales. 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The third and fourth quarter of the year 2008 has yielded more sales than the rest</a:t>
            </a:r>
            <a:endParaRPr lang="en-US" altLang="en-GB"/>
          </a:p>
        </p:txBody>
      </p:sp>
      <p:graphicFrame>
        <p:nvGraphicFramePr>
          <p:cNvPr id="10" name="Chart 9"/>
          <p:cNvGraphicFramePr/>
          <p:nvPr/>
        </p:nvGraphicFramePr>
        <p:xfrm>
          <a:off x="7030085" y="297180"/>
          <a:ext cx="4826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1" name="Chart 10"/>
          <p:cNvGraphicFramePr/>
          <p:nvPr/>
        </p:nvGraphicFramePr>
        <p:xfrm>
          <a:off x="7030085" y="3500755"/>
          <a:ext cx="4826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/>
          <p:cNvGraphicFramePr/>
          <p:nvPr/>
        </p:nvGraphicFramePr>
        <p:xfrm>
          <a:off x="1272540" y="3711575"/>
          <a:ext cx="4826000" cy="30105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43205" y="164465"/>
            <a:ext cx="4064000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/>
              <a:t>Key findings for Customer Analysis </a:t>
            </a:r>
            <a:endParaRPr lang="en-US" altLang="en-GB" sz="20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28% of our customer have no child at all while the rest 72% have atleast 1  child.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51% of our customers are male while the rest are female showing gender preference of our products 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Majority of our customers are earning $60k yearly 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</p:txBody>
      </p:sp>
      <p:graphicFrame>
        <p:nvGraphicFramePr>
          <p:cNvPr id="5" name="Chart 4"/>
          <p:cNvGraphicFramePr/>
          <p:nvPr/>
        </p:nvGraphicFramePr>
        <p:xfrm>
          <a:off x="6222365" y="164465"/>
          <a:ext cx="5466080" cy="2861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6222365" y="3317875"/>
          <a:ext cx="5466080" cy="2972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243205" y="3025775"/>
          <a:ext cx="5770880" cy="3146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Chart 3"/>
          <p:cNvGraphicFramePr/>
          <p:nvPr/>
        </p:nvGraphicFramePr>
        <p:xfrm>
          <a:off x="7051993" y="328295"/>
          <a:ext cx="482790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332105" y="297180"/>
            <a:ext cx="4064000" cy="2338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/>
              <a:t>Key findings for Geography Analysis </a:t>
            </a:r>
            <a:endParaRPr lang="en-US" altLang="en-GB" sz="20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The geography with the highest number of sales is the united states with over 58% of total sales is done there 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19% of the total customers are with 4 sales territory key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</p:txBody>
      </p:sp>
      <p:graphicFrame>
        <p:nvGraphicFramePr>
          <p:cNvPr id="6" name="Chart 5"/>
          <p:cNvGraphicFramePr/>
          <p:nvPr/>
        </p:nvGraphicFramePr>
        <p:xfrm>
          <a:off x="7051993" y="3288030"/>
          <a:ext cx="482790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8" name="CountryReg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15" y="3208020"/>
            <a:ext cx="5979160" cy="2729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22605" y="375285"/>
            <a:ext cx="8430895" cy="44653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800" b="1">
                <a:latin typeface="Arial" panose="020B0604020202020204" pitchFamily="34" charset="0"/>
                <a:ea typeface="Microsoft YaHei" panose="020B0503020204020204" charset="-122"/>
              </a:rPr>
              <a:t>Conclusion || Suggestion</a:t>
            </a:r>
            <a:endParaRPr lang="en-US" sz="1800" b="1">
              <a:latin typeface="Arial" panose="020B0604020202020204" pitchFamily="34" charset="0"/>
              <a:ea typeface="Microsoft YaHei" panose="020B0503020204020204" charset="-122"/>
            </a:endParaRPr>
          </a:p>
          <a:p>
            <a:pPr indent="0" algn="l">
              <a:buNone/>
            </a:pPr>
            <a:endParaRPr lang="en-US" sz="1800" b="1"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latin typeface="Arial" panose="020B0604020202020204" pitchFamily="34" charset="0"/>
                <a:ea typeface="Microsoft YaHei" panose="020B0503020204020204" charset="-122"/>
              </a:rPr>
              <a:t>Since sales skyrocketed during holiday, we should stock more preceeding the holiday season.</a:t>
            </a:r>
            <a:endParaRPr lang="en-US" sz="1800"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latin typeface="Arial" panose="020B0604020202020204" pitchFamily="34" charset="0"/>
                <a:ea typeface="Microsoft YaHei" panose="020B0503020204020204" charset="-122"/>
              </a:rPr>
              <a:t>Since majority of our customers are Males, we should focus more on manufacturing male-centered products.</a:t>
            </a:r>
            <a:endParaRPr lang="en-US" sz="1800"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latin typeface="Arial" panose="020B0604020202020204" pitchFamily="34" charset="0"/>
                <a:ea typeface="Microsoft YaHei" panose="020B0503020204020204" charset="-122"/>
              </a:rPr>
              <a:t>We should make our products fit in the yearly income of our customers for affordability.</a:t>
            </a:r>
            <a:endParaRPr lang="en-US" sz="1800"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latin typeface="Arial" panose="020B0604020202020204" pitchFamily="34" charset="0"/>
                <a:ea typeface="Microsoft YaHei" panose="020B0503020204020204" charset="-122"/>
              </a:rPr>
              <a:t>We should manufacture products that support the western-culture since majority of our customer-base is from the West-Region.</a:t>
            </a:r>
            <a:endParaRPr lang="en-US" sz="1800"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2232</Words>
  <Application>WPS Presentation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David-Bazunu</dc:creator>
  <cp:lastModifiedBy>Abdulkareem Tosho</cp:lastModifiedBy>
  <cp:revision>14</cp:revision>
  <dcterms:created xsi:type="dcterms:W3CDTF">2025-07-23T00:59:00Z</dcterms:created>
  <dcterms:modified xsi:type="dcterms:W3CDTF">2026-09-28T15:31:36Z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F50B9228DA7A4E3B9DDCFE74AD4DA9ED_11</vt:lpwstr>
  </property>
  <property fmtid="{D5CDD505-2E9C-101B-9397-08002B2CF9AE}" pid="3" name="KSOProductBuildVer">
    <vt:lpwstr>1033-12.1.0.28485</vt:lpwstr>
  </property>
</Properties>
</file>